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6459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MINING PROJECT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7132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News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Sentiment Analysis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11480" y="3154680"/>
            <a:ext cx="7132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financial news into Positive · Negative · Neutral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BiLSTM, BERT, FinBERT, DistilBERT &amp; RAG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Lorenzo Galli · Matteo Giuseppetti · Gabriele Socrate · Gabriele Trentin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B3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2560320" cy="1097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801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2018–2023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Coverage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188720"/>
            <a:ext cx="2560320" cy="10972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2801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Yahoo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200400" y="1965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188720"/>
            <a:ext cx="2560320" cy="109728"/>
          </a:xfrm>
          <a:prstGeom prst="rect">
            <a:avLst/>
          </a:prstGeom>
          <a:solidFill>
            <a:srgbClr val="8ECAE6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12801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Labels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035040" y="1965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· Neg · Neutral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built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NLP pipeline to classify real financial news scraped from Yahoo Finance. 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neural network architectures were implemented and compared, from deep learning to transformer-based models, 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culminating in an interactive dashboard with RAG-powered Q&amp;A.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 from raw data to interactive dashboard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691640" y="2057400"/>
            <a:ext cx="320040" cy="7315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325880"/>
            <a:ext cx="1463040" cy="2286000"/>
          </a:xfrm>
          <a:prstGeom prst="rect">
            <a:avLst/>
          </a:prstGeom>
          <a:solidFill>
            <a:srgbClr val="1B2B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25880"/>
            <a:ext cx="1463040" cy="914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417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187452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Cleaning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6517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dataset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2018–2023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29000" y="2057400"/>
            <a:ext cx="320040" cy="7315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1" name="Shape 9"/>
          <p:cNvSpPr/>
          <p:nvPr/>
        </p:nvSpPr>
        <p:spPr>
          <a:xfrm>
            <a:off x="2011680" y="1325880"/>
            <a:ext cx="1463040" cy="2286000"/>
          </a:xfrm>
          <a:prstGeom prst="rect">
            <a:avLst/>
          </a:prstGeom>
          <a:solidFill>
            <a:srgbClr val="1B2B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11680" y="1325880"/>
            <a:ext cx="1463040" cy="914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3" name="Text 11"/>
          <p:cNvSpPr/>
          <p:nvPr/>
        </p:nvSpPr>
        <p:spPr>
          <a:xfrm>
            <a:off x="2011680" y="1417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011680" y="187452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11680" y="26517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&amp;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statistics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66360" y="2057400"/>
            <a:ext cx="320040" cy="7315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7" name="Shape 15"/>
          <p:cNvSpPr/>
          <p:nvPr/>
        </p:nvSpPr>
        <p:spPr>
          <a:xfrm>
            <a:off x="3749040" y="1325880"/>
            <a:ext cx="1463040" cy="2286000"/>
          </a:xfrm>
          <a:prstGeom prst="rect">
            <a:avLst/>
          </a:prstGeom>
          <a:solidFill>
            <a:srgbClr val="1B2B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49040" y="1325880"/>
            <a:ext cx="1463040" cy="914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9" name="Text 17"/>
          <p:cNvSpPr/>
          <p:nvPr/>
        </p:nvSpPr>
        <p:spPr>
          <a:xfrm>
            <a:off x="3749040" y="1417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749040" y="187452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GloVe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49040" y="26517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&amp;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03720" y="2057400"/>
            <a:ext cx="320040" cy="7315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0" y="1325880"/>
            <a:ext cx="1463040" cy="2286000"/>
          </a:xfrm>
          <a:prstGeom prst="rect">
            <a:avLst/>
          </a:prstGeom>
          <a:solidFill>
            <a:srgbClr val="1B2B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0" y="1325880"/>
            <a:ext cx="1463040" cy="914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0" y="1417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86400" y="187452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0" y="26517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· FinBERT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base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23760" y="1325880"/>
            <a:ext cx="1463040" cy="2286000"/>
          </a:xfrm>
          <a:prstGeom prst="rect">
            <a:avLst/>
          </a:prstGeom>
          <a:solidFill>
            <a:srgbClr val="1B2B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223760" y="1325880"/>
            <a:ext cx="1463040" cy="914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0" name="Text 28"/>
          <p:cNvSpPr/>
          <p:nvPr/>
        </p:nvSpPr>
        <p:spPr>
          <a:xfrm>
            <a:off x="7223760" y="1417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223760" y="187452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23760" y="26517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+ Ollama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Q&amp;A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14600" y="3840480"/>
            <a:ext cx="4114800" cy="822960"/>
          </a:xfrm>
          <a:prstGeom prst="rect">
            <a:avLst/>
          </a:prstGeom>
          <a:solidFill>
            <a:srgbClr val="F0A50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514600" y="384048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Interactive Dashboard (Plotly Dash)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B3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 IMPLEMENTED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91440" cy="16459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527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BiLSTM + GloVe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063240" y="1280160"/>
            <a:ext cx="1234440" cy="292608"/>
          </a:xfrm>
          <a:prstGeom prst="rect">
            <a:avLst>
              <a:gd name="adj" fmla="val 15625"/>
            </a:avLst>
          </a:prstGeom>
          <a:solidFill>
            <a:srgbClr val="F0A500"/>
          </a:solidFill>
          <a:ln/>
        </p:spPr>
      </p:sp>
      <p:sp>
        <p:nvSpPr>
          <p:cNvPr id="8" name="Text 6"/>
          <p:cNvSpPr/>
          <p:nvPr/>
        </p:nvSpPr>
        <p:spPr>
          <a:xfrm>
            <a:off x="3063240" y="128016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LSTM architecture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9933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GloVe embeddings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2951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hyperparameter tuning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59689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dataset training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301752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017520"/>
            <a:ext cx="91440" cy="16459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1272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DistilBERT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063240" y="3154680"/>
            <a:ext cx="1234440" cy="292608"/>
          </a:xfrm>
          <a:prstGeom prst="rect">
            <a:avLst>
              <a:gd name="adj" fmla="val 15625"/>
            </a:avLst>
          </a:prstGeom>
          <a:solidFill>
            <a:srgbClr val="06D6A0"/>
          </a:solidFill>
          <a:ln/>
        </p:spPr>
      </p:sp>
      <p:sp>
        <p:nvSpPr>
          <p:cNvPr id="17" name="Text 15"/>
          <p:cNvSpPr/>
          <p:nvPr/>
        </p:nvSpPr>
        <p:spPr>
          <a:xfrm>
            <a:off x="3063240" y="315468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Distillation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3566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financial news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8679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Lighter &amp; faster than BERT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1696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distillation from BERT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114300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1143000"/>
            <a:ext cx="91440" cy="1645920"/>
          </a:xfrm>
          <a:prstGeom prst="rect">
            <a:avLst/>
          </a:prstGeom>
          <a:solidFill>
            <a:srgbClr val="8ECAE6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12527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FinBERT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589520" y="1280160"/>
            <a:ext cx="1234440" cy="292608"/>
          </a:xfrm>
          <a:prstGeom prst="rect">
            <a:avLst>
              <a:gd name="adj" fmla="val 15625"/>
            </a:avLst>
          </a:prstGeom>
          <a:solidFill>
            <a:srgbClr val="8ECAE6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0" y="128016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0" y="1691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on finance domain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19933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approach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0" y="22951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fine-tuning required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301752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017520"/>
            <a:ext cx="91440" cy="164592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31272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BERT Base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589520" y="3154680"/>
            <a:ext cx="1234440" cy="292608"/>
          </a:xfrm>
          <a:prstGeom prst="rect">
            <a:avLst>
              <a:gd name="adj" fmla="val 15625"/>
            </a:avLst>
          </a:prstGeom>
          <a:solidFill>
            <a:srgbClr val="FFD166"/>
          </a:solidFill>
          <a:ln/>
        </p:spPr>
      </p:sp>
      <p:sp>
        <p:nvSpPr>
          <p:cNvPr id="33" name="Text 31"/>
          <p:cNvSpPr/>
          <p:nvPr/>
        </p:nvSpPr>
        <p:spPr>
          <a:xfrm>
            <a:off x="7589520" y="315468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0" y="3566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pre-training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0" y="38679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for classification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0" y="41696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classification head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for context-aware financial Q&amp;A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1417320" cy="2331720"/>
          </a:xfrm>
          <a:prstGeom prst="rect">
            <a:avLst/>
          </a:prstGeom>
          <a:solidFill>
            <a:srgbClr val="1B2B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325880"/>
            <a:ext cx="1417320" cy="914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4630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1480" y="196596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265176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dataset_RAG.csv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28800" y="2450592"/>
            <a:ext cx="274320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0" name="Shape 8"/>
          <p:cNvSpPr/>
          <p:nvPr/>
        </p:nvSpPr>
        <p:spPr>
          <a:xfrm>
            <a:off x="2103120" y="1325880"/>
            <a:ext cx="1417320" cy="2331720"/>
          </a:xfrm>
          <a:prstGeom prst="rect">
            <a:avLst/>
          </a:prstGeom>
          <a:solidFill>
            <a:srgbClr val="1B2B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03120" y="1325880"/>
            <a:ext cx="1417320" cy="914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2" name="Text 10"/>
          <p:cNvSpPr/>
          <p:nvPr/>
        </p:nvSpPr>
        <p:spPr>
          <a:xfrm>
            <a:off x="2103120" y="14630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✂️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103120" y="196596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103120" y="265176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RecursiveText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Splitter 500 chars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20440" y="2450592"/>
            <a:ext cx="274320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6" name="Shape 14"/>
          <p:cNvSpPr/>
          <p:nvPr/>
        </p:nvSpPr>
        <p:spPr>
          <a:xfrm>
            <a:off x="3794760" y="1325880"/>
            <a:ext cx="1417320" cy="2331720"/>
          </a:xfrm>
          <a:prstGeom prst="rect">
            <a:avLst/>
          </a:prstGeom>
          <a:solidFill>
            <a:srgbClr val="1B2B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94760" y="1325880"/>
            <a:ext cx="1417320" cy="914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8" name="Text 16"/>
          <p:cNvSpPr/>
          <p:nvPr/>
        </p:nvSpPr>
        <p:spPr>
          <a:xfrm>
            <a:off x="3794760" y="14630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🔢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794760" y="196596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794760" y="265176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SentenceTransformer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212080" y="2450592"/>
            <a:ext cx="274320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0" y="1325880"/>
            <a:ext cx="1417320" cy="2331720"/>
          </a:xfrm>
          <a:prstGeom prst="rect">
            <a:avLst/>
          </a:prstGeom>
          <a:solidFill>
            <a:srgbClr val="1B2B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0" y="1325880"/>
            <a:ext cx="1417320" cy="914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0" y="14630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486400" y="196596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0" y="265176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Similarity-based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retrieval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903720" y="2450592"/>
            <a:ext cx="274320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8" name="Shape 26"/>
          <p:cNvSpPr/>
          <p:nvPr/>
        </p:nvSpPr>
        <p:spPr>
          <a:xfrm>
            <a:off x="7178040" y="1325880"/>
            <a:ext cx="1417320" cy="2331720"/>
          </a:xfrm>
          <a:prstGeom prst="rect">
            <a:avLst/>
          </a:prstGeom>
          <a:solidFill>
            <a:srgbClr val="1B2B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78040" y="1325880"/>
            <a:ext cx="1417320" cy="914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0" name="Text 28"/>
          <p:cNvSpPr/>
          <p:nvPr/>
        </p:nvSpPr>
        <p:spPr>
          <a:xfrm>
            <a:off x="7178040" y="14630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178040" y="196596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Answer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178040" y="265176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8B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Ollama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solidFill>
            <a:srgbClr val="1B2B3B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3886200"/>
            <a:ext cx="91440" cy="7772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3913632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ONLY based on the retrieved context — if the answer is not in the documents, the model says it doesn't know. This prevents hallucinations.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B3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60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594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12070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Homepage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57276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intro and navigation guide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097280"/>
            <a:ext cx="64008" cy="10058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2304288"/>
            <a:ext cx="4160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304288"/>
            <a:ext cx="594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97280" y="241401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7797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distributions, text stats, word frequencies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304288"/>
            <a:ext cx="64008" cy="10058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3511296"/>
            <a:ext cx="4160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511296"/>
            <a:ext cx="594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97280" y="362102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Sentiment Models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98678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confusion matrices, model comparisons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511296"/>
            <a:ext cx="64008" cy="10058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9" name="Shape 17"/>
          <p:cNvSpPr/>
          <p:nvPr/>
        </p:nvSpPr>
        <p:spPr>
          <a:xfrm>
            <a:off x="4983480" y="1097280"/>
            <a:ext cx="4160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74920" y="1097280"/>
            <a:ext cx="594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715000" y="12070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Assistant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15000" y="157276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Q&amp;A over financial documents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83480" y="1097280"/>
            <a:ext cx="64008" cy="10058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4" name="Shape 22"/>
          <p:cNvSpPr/>
          <p:nvPr/>
        </p:nvSpPr>
        <p:spPr>
          <a:xfrm>
            <a:off x="4983480" y="2304288"/>
            <a:ext cx="4160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74920" y="2304288"/>
            <a:ext cx="594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715000" y="241401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Company Analysis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715000" y="27797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Per-company sentiment trends over time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83480" y="2304288"/>
            <a:ext cx="64008" cy="10058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9" name="Shape 27"/>
          <p:cNvSpPr/>
          <p:nvPr/>
        </p:nvSpPr>
        <p:spPr>
          <a:xfrm>
            <a:off x="4983480" y="3337560"/>
            <a:ext cx="3703320" cy="13258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0" name="Text 28"/>
          <p:cNvSpPr/>
          <p:nvPr/>
        </p:nvSpPr>
        <p:spPr>
          <a:xfrm>
            <a:off x="4983480" y="336499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83480" y="3703320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Dash  ·  Bootstrap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FAISS  ·  HuggingFace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6459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325880" y="1097280"/>
            <a:ext cx="36576" cy="5486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105156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models (BERT-family) significantly outperform BiLSTM on financial sentiment classification.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96596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325880" y="2011680"/>
            <a:ext cx="36576" cy="5486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196596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— domain-specific pre-training — proves highly effective even without fine-tuning.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288036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1325880" y="2926080"/>
            <a:ext cx="36576" cy="5486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3" name="Text 11"/>
          <p:cNvSpPr/>
          <p:nvPr/>
        </p:nvSpPr>
        <p:spPr>
          <a:xfrm>
            <a:off x="1463040" y="288036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with FAISS enables grounded, hallucination-resistant Q&amp;A over large financial corpora.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" y="379476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1325880" y="3840480"/>
            <a:ext cx="36576" cy="5486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6" name="Text 14"/>
          <p:cNvSpPr/>
          <p:nvPr/>
        </p:nvSpPr>
        <p:spPr>
          <a:xfrm>
            <a:off x="1463040" y="379476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interactive dashboard brings the full pipeline to life for non-technical users.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1480" y="4663440"/>
            <a:ext cx="8321040" cy="7315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Lorenzo Galli · Matteo Giuseppetti · Gabriele Socrate · Gabriele Trentin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News Sentiment Analysis</dc:title>
  <dc:subject>PptxGenJS Presentation</dc:subject>
  <dc:creator>PptxGenJS</dc:creator>
  <cp:lastModifiedBy>PptxGenJS</cp:lastModifiedBy>
  <cp:revision>1</cp:revision>
  <dcterms:created xsi:type="dcterms:W3CDTF">2026-03-23T13:31:48Z</dcterms:created>
  <dcterms:modified xsi:type="dcterms:W3CDTF">2026-03-23T13:31:48Z</dcterms:modified>
</cp:coreProperties>
</file>